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1" r:id="rId4"/>
    <p:sldId id="275" r:id="rId5"/>
    <p:sldId id="259" r:id="rId6"/>
    <p:sldId id="260" r:id="rId7"/>
    <p:sldId id="274" r:id="rId8"/>
    <p:sldId id="276" r:id="rId9"/>
    <p:sldId id="282" r:id="rId10"/>
    <p:sldId id="283" r:id="rId11"/>
    <p:sldId id="284" r:id="rId12"/>
    <p:sldId id="285" r:id="rId13"/>
    <p:sldId id="286" r:id="rId14"/>
    <p:sldId id="271" r:id="rId15"/>
    <p:sldId id="287" r:id="rId16"/>
    <p:sldId id="288" r:id="rId17"/>
    <p:sldId id="289" r:id="rId18"/>
    <p:sldId id="291" r:id="rId19"/>
    <p:sldId id="27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E517E6-6353-4062-95D0-E93D20915FE8}" v="2" dt="2026-08-20T03:20:42.2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8" d="100"/>
          <a:sy n="58" d="100"/>
        </p:scale>
        <p:origin x="60" y="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10F92-2E95-55F1-AF45-3C71F2DD63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476FDB-C776-2299-F09D-B475DEC926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4B28E-5E4A-2C63-7655-533766645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5849F-A073-2837-4642-1FB42C850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28B72-0AE4-EE86-345C-28068E6BD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994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9FFE7-F283-3FEA-4A48-ADC40F65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3D166-BB5A-0EEF-E66A-7D760C30F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828BF-5D15-5FB8-D8C7-FB0878BCA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71F6C-EEF7-7EEA-78BA-5D57A4C68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50C89-BDEA-254B-BB11-910585EFA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44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F7C66-C1AE-34E0-588B-FC9BBBF84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CFCBD-E26D-02AE-1215-0177CD3FB7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373CE-750C-7AAA-2645-72DD40AF0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AA57D-7AF6-647A-C22E-8ACD14F64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DBB1C-C92F-663D-AB79-E1DDF9835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6130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DC2FC-3B49-48B1-957D-E70FB2D1A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30DC8-0381-DBD5-4AEA-C0D7DC5382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624015-A8A0-D8CF-277B-31E515D51C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216D9-B985-D642-4290-681CD73D9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283E94-083B-7D50-61DD-4E02B60A8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842185-BED2-E1A2-E04E-A35229390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2094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857FC-639F-1DC6-ED96-B1A55EFC6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625845-6FB4-DBFD-5E59-CA27CE5C3B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7C35AE-8127-D5DB-4164-669761A946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557926-ADF8-1705-1359-0773DAC01B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5469A2-33B4-17AD-0769-5E6A9A896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39871A-EF99-400A-E0AC-FA4CB0BD5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F711D0-5E37-6F6A-BC08-189992ECE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FE3903-8B52-B9F2-871C-182CDC780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9518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6968B-0F22-6637-6004-585133E98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770831-52B0-C380-ACFD-BD9E3FFA7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15824A-608E-89B7-055E-D509415B4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3D88C7-F89A-2AF6-9D95-D1386FAED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4924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75671C-0362-1CCE-E12F-82E1538AF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EEB005-A6B2-9AED-4F96-FF2CD2480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B5FE9-692D-941D-28AC-307DD73F9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2064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C3E90-C5FF-19B6-55F5-E86A578E4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4E249-03FC-FD82-FAAB-136AD4F65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7098F8-75A0-426F-0200-4A571DB4DC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081BA1-481D-D7AB-D66C-D74075800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938A58-1B0E-AA39-8640-71DD28C58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9A6018-0455-2476-5BB9-300F9D2D5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864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ED7EF-DA78-9FFF-3F43-3AD6353D6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713AAE-BD54-7B12-48F0-AAB933B0B5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7CA9C8-A641-C865-7202-1FE8D2BCB4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B94F78-2A0C-8CFE-4259-9EABF8E18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FCBEAE-3927-CDCA-9AF9-C9B6CEEC9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865146-E0EC-A7F0-BA70-ED0DFAE12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7104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62FBD-61B8-2702-E359-F57FB980C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049B9A-4A82-8614-AD5E-A21A7F61B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4449C-9626-8693-6768-E6C79F65D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F1869-AF77-AF0C-6DE8-B9F99E536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2CEDD-1D83-FACF-7483-3DFA888C3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3033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931B64-563D-40A1-428A-A0104A2405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7020E0-69A0-E769-B8E9-B02A72820F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37E6C-9DCE-C3B7-5E86-37FC31E4D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CE000-160C-55AF-14F9-E7575ABC8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507E0-1F22-789D-37FF-56BC2B37A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901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102FE0-5336-D587-2E05-26FBB68D8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BD562E-420B-2FEA-9149-9E04E7E97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D95E6D-C7D3-C278-720A-56AA4A63C5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909A09-45E7-4A2B-808B-7B33B05641A1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834C6-D011-6E97-C36B-FC2D8B76EF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05AD2-0506-B1C4-2C75-40252CA4D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086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4">
            <a:extLst>
              <a:ext uri="{FF2B5EF4-FFF2-40B4-BE49-F238E27FC236}">
                <a16:creationId xmlns:a16="http://schemas.microsoft.com/office/drawing/2014/main" id="{ECDFE06F-DB9D-F6B9-2D14-5D40A732C3E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625" y="334433"/>
            <a:ext cx="11334750" cy="1143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C54157-4A84-91CA-2298-5C144DF8CF4B}"/>
              </a:ext>
            </a:extLst>
          </p:cNvPr>
          <p:cNvSpPr txBox="1"/>
          <p:nvPr/>
        </p:nvSpPr>
        <p:spPr>
          <a:xfrm>
            <a:off x="428625" y="4715380"/>
            <a:ext cx="6096000" cy="751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4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b="1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Dr.R.C.Jeni Gracia</a:t>
            </a:r>
            <a:r>
              <a:rPr lang="en-US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8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0962CB-1B19-EE9C-C737-9E0B347D3622}"/>
              </a:ext>
            </a:extLst>
          </p:cNvPr>
          <p:cNvSpPr txBox="1"/>
          <p:nvPr/>
        </p:nvSpPr>
        <p:spPr>
          <a:xfrm>
            <a:off x="7899400" y="4715380"/>
            <a:ext cx="4074886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4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 marL="20320">
              <a:lnSpc>
                <a:spcPct val="100000"/>
              </a:lnSpc>
              <a:spcBef>
                <a:spcPts val="5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G.D.S.P.Santosh Raja (192425064)</a:t>
            </a:r>
          </a:p>
          <a:p>
            <a:pPr marL="20320">
              <a:lnSpc>
                <a:spcPct val="100000"/>
              </a:lnSpc>
              <a:spcBef>
                <a:spcPts val="5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T.V.Sai Jagadeesh(192472146)</a:t>
            </a:r>
          </a:p>
          <a:p>
            <a:pPr marL="20320">
              <a:lnSpc>
                <a:spcPct val="100000"/>
              </a:lnSpc>
              <a:spcBef>
                <a:spcPts val="5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C.Chandu (192472332)</a:t>
            </a:r>
          </a:p>
          <a:p>
            <a:pPr marL="20320">
              <a:lnSpc>
                <a:spcPct val="100000"/>
              </a:lnSpc>
              <a:spcBef>
                <a:spcPts val="5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Y.Sravan Kumar (192472289)</a:t>
            </a:r>
          </a:p>
          <a:p>
            <a:pPr marL="20320">
              <a:lnSpc>
                <a:spcPct val="100000"/>
              </a:lnSpc>
              <a:spcBef>
                <a:spcPts val="5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B.Rakesh (192425241)</a:t>
            </a:r>
          </a:p>
          <a:p>
            <a:pPr marL="20320">
              <a:lnSpc>
                <a:spcPct val="100000"/>
              </a:lnSpc>
              <a:spcBef>
                <a:spcPts val="5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Y.Tejanvesh Reddy(192425156)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195A39-CAD4-79D2-A5D1-2D549EDCA3ED}"/>
              </a:ext>
            </a:extLst>
          </p:cNvPr>
          <p:cNvSpPr txBox="1"/>
          <p:nvPr/>
        </p:nvSpPr>
        <p:spPr>
          <a:xfrm>
            <a:off x="636814" y="2038551"/>
            <a:ext cx="10780862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ITA0506-COMPUTER VISION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AA7A8F-4517-179B-2C54-9BD20A521B05}"/>
              </a:ext>
            </a:extLst>
          </p:cNvPr>
          <p:cNvSpPr txBox="1"/>
          <p:nvPr/>
        </p:nvSpPr>
        <p:spPr>
          <a:xfrm>
            <a:off x="783770" y="3260876"/>
            <a:ext cx="1097960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Traffic Sign Detection and Recognition using YOLOv8 and CNN with Driver Alert System</a:t>
            </a:r>
            <a:endParaRPr lang="en-US" sz="24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36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9DB9B4-B78B-E441-B31F-02362E88C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38" y="226340"/>
            <a:ext cx="1133475" cy="1343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A217B2-1D7F-69D7-5338-50F68187D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429" y="226340"/>
            <a:ext cx="1524000" cy="13430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8D9DBA-E9A7-3415-0F64-1839FE433F1C}"/>
              </a:ext>
            </a:extLst>
          </p:cNvPr>
          <p:cNvSpPr txBox="1"/>
          <p:nvPr/>
        </p:nvSpPr>
        <p:spPr>
          <a:xfrm>
            <a:off x="2355321" y="626654"/>
            <a:ext cx="69723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solidFill>
                  <a:srgbClr val="FF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AGENDA</a:t>
            </a:r>
            <a:endParaRPr lang="en-IN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BD5233-17D0-CF1B-01E8-FD4B45F13B43}"/>
              </a:ext>
            </a:extLst>
          </p:cNvPr>
          <p:cNvSpPr txBox="1"/>
          <p:nvPr/>
        </p:nvSpPr>
        <p:spPr>
          <a:xfrm>
            <a:off x="4016830" y="1569365"/>
            <a:ext cx="9927770" cy="5115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traffic sign recognition system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of existing methods 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project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Module-wise explanation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and Discussion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References</a:t>
            </a:r>
          </a:p>
        </p:txBody>
      </p:sp>
    </p:spTree>
    <p:extLst>
      <p:ext uri="{BB962C8B-B14F-4D97-AF65-F5344CB8AC3E}">
        <p14:creationId xmlns:p14="http://schemas.microsoft.com/office/powerpoint/2010/main" val="3907126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8B1E0-51E8-2969-8389-FC285219C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5373B50-DCB2-C86A-7E1C-7974D34E0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38" y="226340"/>
            <a:ext cx="1133475" cy="1343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C63226-F49F-D5AE-8762-706355BC7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429" y="226340"/>
            <a:ext cx="1524000" cy="13430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7AEF1F-68D1-3951-7FB3-ADD8B2D2CF49}"/>
              </a:ext>
            </a:extLst>
          </p:cNvPr>
          <p:cNvSpPr txBox="1"/>
          <p:nvPr/>
        </p:nvSpPr>
        <p:spPr>
          <a:xfrm>
            <a:off x="2355321" y="626654"/>
            <a:ext cx="69723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solidFill>
                  <a:srgbClr val="FF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INTRODUCTION</a:t>
            </a:r>
            <a:endParaRPr lang="en-IN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1F13C-B9C3-3D0A-9BA0-B8624737A68A}"/>
              </a:ext>
            </a:extLst>
          </p:cNvPr>
          <p:cNvSpPr txBox="1"/>
          <p:nvPr/>
        </p:nvSpPr>
        <p:spPr>
          <a:xfrm>
            <a:off x="1665515" y="2022525"/>
            <a:ext cx="9927770" cy="2806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signs are essential for maintaining road safety and guiding drivers.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real-world situations, drivers may miss signs due to fatigue, distractions, or poor visibility.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important signs like speed limits or stop signs can lead to accidents.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solve this problem, intelligent systems are developed using Artificial Intelligence.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uses YOLOv8 for detection and CNN for classification.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automatically detect traffic signs from live video and recognize their meaning.</a:t>
            </a:r>
          </a:p>
        </p:txBody>
      </p:sp>
    </p:spTree>
    <p:extLst>
      <p:ext uri="{BB962C8B-B14F-4D97-AF65-F5344CB8AC3E}">
        <p14:creationId xmlns:p14="http://schemas.microsoft.com/office/powerpoint/2010/main" val="360082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55B43-D961-44B4-57B7-0F835B368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              </a:t>
            </a:r>
            <a:r>
              <a:rPr lang="en-US" dirty="0">
                <a:solidFill>
                  <a:srgbClr val="FF0000"/>
                </a:solidFill>
                <a:latin typeface="Algerian" panose="04020705040A02060702" pitchFamily="82" charset="0"/>
              </a:rPr>
              <a:t>LITERATURE REVIEW</a:t>
            </a:r>
            <a:endParaRPr lang="en-IN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2F52DA-BB0E-79AD-F429-87D192AD7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38" y="226340"/>
            <a:ext cx="1133475" cy="1343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C89E57-0E32-5093-CAED-EDB4BD2B0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429" y="226340"/>
            <a:ext cx="1524000" cy="1343025"/>
          </a:xfrm>
          <a:prstGeom prst="rect">
            <a:avLst/>
          </a:prstGeom>
        </p:spPr>
      </p:pic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B38026D0-8BFB-EF15-2FE0-A306BB0452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6449750"/>
              </p:ext>
            </p:extLst>
          </p:nvPr>
        </p:nvGraphicFramePr>
        <p:xfrm>
          <a:off x="1671142" y="1645186"/>
          <a:ext cx="9307287" cy="4923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23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9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4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06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1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Authors &amp; Year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Technologies Used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Research Gaps Identified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70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Traffic Sign Detection using Traditional Computer Vision Techniques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A. Sharma et al.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 Processing, SVM, HOG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accuracy in complex environments and poor performance in real-time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598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Traffic Sign Detection using Deep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B. Lee et al.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CNN, OpenCV, Deep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speed optimization for real-time applications</a:t>
                      </a:r>
                      <a:endParaRPr lang="en-US" sz="1600" dirty="0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44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Traffic Sign Recognition using YOLO-based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C. Wang et al.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YOLOv5, Object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Difficulty in detecting small and multiple signs simultaneously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613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Traffic Sign Detection with Object Tracking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D. Kumar et al.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YOLO, Deep SORT, Kalman Filter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 of efficient temporal analysis and tracking consistency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8870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Advanced Traffic Sign Recognition using YOLOv8 and Deep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F. John et al.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YOLOv8, 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Still lacks fully optimized real-time deployment and robustness in all weather conditions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5798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7D098-9606-9DF3-9FB4-48ED0D5BE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rgbClr val="FF0000"/>
                </a:solidFill>
                <a:latin typeface="Algerian" panose="04020705040A02060702" pitchFamily="82" charset="0"/>
              </a:rPr>
              <a:t>PROBLEM STATEMENT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91EDFD-B797-6AFA-A922-E16FCCC86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38" y="226340"/>
            <a:ext cx="1133475" cy="1343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59888B-C21F-D6B4-E5E6-AAFF044F2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429" y="226340"/>
            <a:ext cx="1524000" cy="1343025"/>
          </a:xfrm>
          <a:prstGeom prst="rect">
            <a:avLst/>
          </a:prstGeom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5288BF2-D253-8750-9D6F-0523316B83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7871" y="2551836"/>
            <a:ext cx="3331029" cy="2857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F93DAF-4883-4538-741D-8EE0A10595DA}"/>
              </a:ext>
            </a:extLst>
          </p:cNvPr>
          <p:cNvSpPr txBox="1"/>
          <p:nvPr/>
        </p:nvSpPr>
        <p:spPr>
          <a:xfrm>
            <a:off x="653929" y="2449651"/>
            <a:ext cx="7870372" cy="3268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Drivers may miss traffic signs due to bad weather, low visibility, or lack of attention.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are often slow and not suitable for real-time detection.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struggle to detect multiple traffic signs at the same time.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systems do not track signs continuously across video frames. There is a need for a system that can detect, track, recognize signs, and alert the driver instantly.</a:t>
            </a:r>
          </a:p>
        </p:txBody>
      </p:sp>
    </p:spTree>
    <p:extLst>
      <p:ext uri="{BB962C8B-B14F-4D97-AF65-F5344CB8AC3E}">
        <p14:creationId xmlns:p14="http://schemas.microsoft.com/office/powerpoint/2010/main" val="628729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C781D-F173-3EE5-C19A-043B42AF4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rgbClr val="FF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OBJECTIVES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BF0EE-8BDE-A865-7C1A-093477CB6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38" y="226340"/>
            <a:ext cx="1133475" cy="1343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A6386E-92B7-BE81-CE6A-7594E50AE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429" y="226340"/>
            <a:ext cx="1524000" cy="13430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7C688D-B8E6-011F-68D8-B36AD799A9C5}"/>
              </a:ext>
            </a:extLst>
          </p:cNvPr>
          <p:cNvSpPr txBox="1"/>
          <p:nvPr/>
        </p:nvSpPr>
        <p:spPr>
          <a:xfrm>
            <a:off x="2430720" y="1992848"/>
            <a:ext cx="7785709" cy="3691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real-time traffic sign detection system 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use YOLOv8 for fast and accurate object detection and  classify traffic signs using CNN or transfer learning.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track multiple objects across frames and extract relevant regions for better processing.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real-time alerts to drivers To improve overall road safety.</a:t>
            </a:r>
          </a:p>
        </p:txBody>
      </p:sp>
    </p:spTree>
    <p:extLst>
      <p:ext uri="{BB962C8B-B14F-4D97-AF65-F5344CB8AC3E}">
        <p14:creationId xmlns:p14="http://schemas.microsoft.com/office/powerpoint/2010/main" val="898927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49D21-E0C0-A725-9361-B2BDD8166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102F8-E934-8ADE-E39B-6C0A6F9E9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aseline="-25000" dirty="0">
                <a:solidFill>
                  <a:srgbClr val="FF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Architecture</a:t>
            </a:r>
            <a:endParaRPr lang="en-IN" baseline="-25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A72827-3114-84BD-8B3E-2FA3CBECD4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279"/>
          <a:stretch>
            <a:fillRect/>
          </a:stretch>
        </p:blipFill>
        <p:spPr>
          <a:xfrm>
            <a:off x="333038" y="226341"/>
            <a:ext cx="1133475" cy="12184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8D2C98-0467-1885-953A-69108411AA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4962" y="118375"/>
            <a:ext cx="1524000" cy="1343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45DEE0-B90B-CD32-075E-7C9ADB4921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744" y="1583537"/>
            <a:ext cx="10354056" cy="515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256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8928" y="601328"/>
            <a:ext cx="8654143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        </a:t>
            </a:r>
            <a:r>
              <a:rPr lang="en-US" b="1" dirty="0">
                <a:solidFill>
                  <a:srgbClr val="FF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Module 1: </a:t>
            </a:r>
            <a:r>
              <a:rPr lang="en-IN" b="1" dirty="0">
                <a:solidFill>
                  <a:srgbClr val="FF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Intelligent Video Acquisition &amp; Adaptive Preprocessing</a:t>
            </a:r>
            <a:b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352" y="1796759"/>
            <a:ext cx="12034344" cy="5257799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first captures real-time road video using a camera or webcam.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video is divided into individual frames so that each frame can be processed separately.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 is used for basic image processing such as resizing, normalization, and noise reduction.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Brightness and contrast can be adjusted to improve visibility under different lighting conditions.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preprocessed frames are then given as input to the YOLOv8 detection model.</a:t>
            </a:r>
          </a:p>
          <a:p>
            <a:pPr marL="0" indent="0">
              <a:buNone/>
            </a:pPr>
            <a:r>
              <a:rPr lang="en-IN" sz="2400" b="1" dirty="0"/>
              <a:t>Techniques Used</a:t>
            </a:r>
          </a:p>
          <a:p>
            <a:pPr lvl="0"/>
            <a:r>
              <a:rPr lang="en-IN" sz="2400" dirty="0"/>
              <a:t>OpenCV </a:t>
            </a:r>
          </a:p>
          <a:p>
            <a:pPr lvl="0"/>
            <a:r>
              <a:rPr lang="en-IN" sz="2400" dirty="0"/>
              <a:t>Frame extraction </a:t>
            </a:r>
          </a:p>
          <a:p>
            <a:pPr lvl="0"/>
            <a:r>
              <a:rPr lang="en-IN" sz="2400" dirty="0"/>
              <a:t>Image resizing </a:t>
            </a:r>
          </a:p>
          <a:p>
            <a:pPr marL="0" lv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B564A-33F6-F972-A122-B111341A0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31C56-0CCE-B677-D88B-5CA732CD1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24955" y="340071"/>
            <a:ext cx="12359603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        </a:t>
            </a:r>
            <a:r>
              <a:rPr lang="en-US" sz="4000" b="1" dirty="0">
                <a:solidFill>
                  <a:srgbClr val="FF0000"/>
                </a:solidFill>
                <a:latin typeface="Algerian" panose="04020705040A02060702" pitchFamily="82" charset="0"/>
              </a:rPr>
              <a:t>Module-2 </a:t>
            </a:r>
            <a:r>
              <a:rPr lang="en-IN" sz="4000" b="1" dirty="0">
                <a:solidFill>
                  <a:srgbClr val="FF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Real-Time Traffic Sign </a:t>
            </a:r>
            <a:br>
              <a:rPr lang="en-IN" sz="4000" b="1" dirty="0">
                <a:solidFill>
                  <a:srgbClr val="FF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</a:br>
            <a:r>
              <a:rPr lang="en-IN" sz="4000" b="1" dirty="0">
                <a:solidFill>
                  <a:srgbClr val="FF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Detection using YOLOv8</a:t>
            </a:r>
            <a:endParaRPr sz="4000" b="1" dirty="0">
              <a:solidFill>
                <a:srgbClr val="FF0000"/>
              </a:solidFill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7C1EE-A70B-D9A5-6CD6-495BCF67D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656" y="1682955"/>
            <a:ext cx="12034344" cy="5257799"/>
          </a:xfrm>
        </p:spPr>
        <p:txBody>
          <a:bodyPr>
            <a:noAutofit/>
          </a:bodyPr>
          <a:lstStyle/>
          <a:p>
            <a:pPr lvl="0" algn="just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 is used to locate traffic signs in each video frame. </a:t>
            </a:r>
          </a:p>
          <a:p>
            <a:pPr lvl="0" algn="just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identifies the sign and creates a bounding box around it. </a:t>
            </a:r>
          </a:p>
          <a:p>
            <a:pPr lvl="0" algn="just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also provides a confidence score that indicates how confident it is about the detection. </a:t>
            </a:r>
          </a:p>
          <a:p>
            <a:pPr lvl="0" algn="just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 can detect multiple traffic signs in the same frame. </a:t>
            </a:r>
          </a:p>
          <a:p>
            <a:pPr lvl="0" algn="just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YOLOv8 performs detection quickly, it is suitable for real-time traffic applications.</a:t>
            </a:r>
            <a:endParaRPr lang="en-IN" sz="2400" dirty="0"/>
          </a:p>
          <a:p>
            <a:pPr marL="0" lvl="0" indent="0"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/ Methodology:</a:t>
            </a:r>
          </a:p>
          <a:p>
            <a:pPr lvl="0"/>
            <a:r>
              <a:rPr lang="en-IN" sz="2400" dirty="0"/>
              <a:t>Input preprocessed frame. </a:t>
            </a:r>
          </a:p>
          <a:p>
            <a:pPr lvl="0"/>
            <a:r>
              <a:rPr lang="en-IN" sz="2400" dirty="0"/>
              <a:t>YOLOv8 processes the complete image. </a:t>
            </a:r>
          </a:p>
          <a:p>
            <a:pPr lvl="0"/>
            <a:r>
              <a:rPr lang="en-IN" sz="2400" dirty="0"/>
              <a:t>Features are extracted by the neural network.</a:t>
            </a:r>
          </a:p>
          <a:p>
            <a:pPr marL="0" lvl="0" indent="0" algn="just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buNone/>
            </a:pP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55DF3D-663C-DB10-352C-04E77132333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60049C-AA0C-85C6-B866-EA6C48CA3E0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0871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EA66E-2745-AA84-922C-055CBBB49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FDBB7-F97D-FAD3-B95C-A293E0D42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5726" y="283169"/>
            <a:ext cx="1097524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Algerian" panose="04020705040A02060702" pitchFamily="82" charset="0"/>
              </a:rPr>
              <a:t>        </a:t>
            </a:r>
            <a:r>
              <a:rPr lang="en-IN" sz="4000" b="1" dirty="0">
                <a:solidFill>
                  <a:srgbClr val="FF0000"/>
                </a:solidFill>
                <a:latin typeface="Algerian" panose="04020705040A02060702" pitchFamily="82" charset="0"/>
              </a:rPr>
              <a:t>Module 3: Multi-Object Tracking &amp; Temporal Analysis</a:t>
            </a:r>
            <a:endParaRPr sz="4000" b="1" dirty="0">
              <a:solidFill>
                <a:srgbClr val="FF0000"/>
              </a:solidFill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2329-7162-5263-11AA-027458B88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656" y="1682955"/>
            <a:ext cx="12034344" cy="5257799"/>
          </a:xfrm>
        </p:spPr>
        <p:txBody>
          <a:bodyPr>
            <a:noAutofit/>
          </a:bodyPr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detection, the system continuously follows traffic signs across different video frames.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 helps the system understand whether the sign in the current frame is the same sign detected in the previous frame.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unique tracking ID can be assigned to every detected sign.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reduces repeated processing and provides more stable results.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information from consecutive frames can also be used to improve the reliability of detection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/ Methodology:</a:t>
            </a:r>
          </a:p>
          <a:p>
            <a:pPr lvl="0"/>
            <a:r>
              <a:rPr lang="en-IN" sz="2400" dirty="0"/>
              <a:t>Object tracking </a:t>
            </a:r>
          </a:p>
          <a:p>
            <a:pPr lvl="0"/>
            <a:r>
              <a:rPr lang="en-IN" sz="2400" dirty="0"/>
              <a:t>Kalman Filter </a:t>
            </a:r>
          </a:p>
          <a:p>
            <a:pPr lvl="0"/>
            <a:r>
              <a:rPr lang="en-IN" sz="2400" dirty="0"/>
              <a:t>SORT / Deep SORT </a:t>
            </a:r>
          </a:p>
          <a:p>
            <a:pPr lvl="0"/>
            <a:r>
              <a:rPr lang="en-IN" sz="2400"/>
              <a:t>Frame-to-frame </a:t>
            </a:r>
            <a:r>
              <a:rPr lang="en-IN" sz="2400" dirty="0"/>
              <a:t>tracking.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buNone/>
            </a:pP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96878F-24B5-9255-6E3C-F38C0020B2E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7655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4FF2FF-9B18-46CC-1AC3-A1AA680DFF1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3575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F6F91-DFD0-52B9-A2D8-6C96D36CF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B646F-2A4F-5453-721A-210FE7949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5726" y="283169"/>
            <a:ext cx="1097524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Algerian" panose="04020705040A02060702" pitchFamily="82" charset="0"/>
              </a:rPr>
              <a:t>        </a:t>
            </a:r>
            <a:r>
              <a:rPr lang="en-IN" sz="4000" b="1" dirty="0">
                <a:solidFill>
                  <a:srgbClr val="FF0000"/>
                </a:solidFill>
                <a:latin typeface="Algerian" panose="04020705040A02060702" pitchFamily="82" charset="0"/>
              </a:rPr>
              <a:t>Module 4: Region Extraction &amp; Feature Optimization</a:t>
            </a:r>
            <a:endParaRPr sz="4000" b="1" dirty="0">
              <a:solidFill>
                <a:srgbClr val="FF0000"/>
              </a:solidFill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B910A-B944-8FD2-944D-5F312ED17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656" y="1682955"/>
            <a:ext cx="12034344" cy="5257799"/>
          </a:xfrm>
        </p:spPr>
        <p:txBody>
          <a:bodyPr>
            <a:noAutofit/>
          </a:bodyPr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YOLOv8 detects a sign, only the traffic sign region is extracted from the frame.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extracted area is called the Region of Interest (ROI).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Removing unnecessary background helps the CNN concentrate on the actual sign.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ROI is resized and normalized before being given to the classification model.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process improves the quality of features used for recognizing the sign.</a:t>
            </a:r>
          </a:p>
          <a:p>
            <a:pPr marL="0" lvl="0" indent="0"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/ Methodology: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Bounding-box based ROI extraction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cropping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Resizing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optimization</a:t>
            </a:r>
          </a:p>
          <a:p>
            <a:pPr marL="0" lvl="0" indent="0" algn="just">
              <a:buNone/>
            </a:pP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F7D986-CDAF-3CD6-E88D-833CE5D5818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7655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2C50A8-5B0D-3997-415D-463CE56C255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86473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ACAC0-864D-D7F0-77AE-3593749BD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4401A-6374-AEF1-DABB-8CA822C06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5726" y="283169"/>
            <a:ext cx="1097524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Algerian" panose="04020705040A02060702" pitchFamily="82" charset="0"/>
              </a:rPr>
              <a:t>        </a:t>
            </a:r>
            <a:r>
              <a:rPr lang="en-IN" sz="4000" b="1" dirty="0">
                <a:solidFill>
                  <a:srgbClr val="FF0000"/>
                </a:solidFill>
                <a:latin typeface="Algerian" panose="04020705040A02060702" pitchFamily="82" charset="0"/>
              </a:rPr>
              <a:t>Module 5: Traffic Sign Classification using CNN</a:t>
            </a:r>
            <a:endParaRPr sz="4000" b="1" dirty="0">
              <a:solidFill>
                <a:srgbClr val="FF0000"/>
              </a:solidFill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CB2D6-1BCC-5A92-B710-141468C0F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656" y="1682955"/>
            <a:ext cx="12034344" cy="5257799"/>
          </a:xfrm>
        </p:spPr>
        <p:txBody>
          <a:bodyPr>
            <a:noAutofit/>
          </a:bodyPr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is used to determine what type of traffic sign has been detected.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extracted traffic sign image is given as input to the CNN.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automatically learns important features such as edges, shapes, colors, and patterns.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layer predicts the most likely traffic sign category.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can be used with models such as MobileNet or ResNet to improve performance with less training time.</a:t>
            </a:r>
          </a:p>
          <a:p>
            <a:pPr marL="0" lvl="0" indent="0"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/ Methodology: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Takes the detected traffic sign image.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Extraction: Identifies shapes, colors, and patterns.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Classification: CNN determines the type of traffic sign.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Prediction: Softmax selects the class with the highest probability.</a:t>
            </a:r>
          </a:p>
          <a:p>
            <a:pPr marL="0" lvl="0" indent="0" algn="just">
              <a:buNone/>
            </a:pP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E8261E-B0F6-B4B9-82E7-06F5EE4CBDD5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7655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4F9D51-B4DA-6F82-79D5-DC0C48B1016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156247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4B718-91EC-4ED7-506B-317BFEE7A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90462-5F61-3E82-6992-AD2108E7C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5726" y="283169"/>
            <a:ext cx="1097524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  <a:latin typeface="Algerian" panose="04020705040A02060702" pitchFamily="82" charset="0"/>
              </a:rPr>
              <a:t>        </a:t>
            </a:r>
            <a:r>
              <a:rPr lang="en-IN" sz="4000" dirty="0">
                <a:solidFill>
                  <a:srgbClr val="FF0000"/>
                </a:solidFill>
                <a:latin typeface="Algerian" panose="04020705040A02060702" pitchFamily="82" charset="0"/>
              </a:rPr>
              <a:t>Module 6: Driver Alert &amp; Decision Support System</a:t>
            </a:r>
            <a:endParaRPr sz="4000" dirty="0">
              <a:solidFill>
                <a:srgbClr val="FF0000"/>
              </a:solidFill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32F26-2DE2-1297-C7CD-F7A570D7DE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656" y="1682955"/>
            <a:ext cx="12034344" cy="5257799"/>
          </a:xfrm>
        </p:spPr>
        <p:txBody>
          <a:bodyPr>
            <a:noAutofit/>
          </a:bodyPr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the traffic sign is classified, the result is sent to the driver alert system.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converts the detected sign into an easy-to-understand warning.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visual message can be displayed on the screen.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audio warning can also be generated using a Text-to-Speech system.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 information can help prevent the same alert from being repeatedly generated.</a:t>
            </a:r>
          </a:p>
          <a:p>
            <a:pPr marL="0" lvl="0" indent="0"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/ Methodology: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notification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triggering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Event-based decision logic</a:t>
            </a:r>
          </a:p>
          <a:p>
            <a:pPr marL="0" lvl="0" indent="0">
              <a:buNone/>
            </a:pP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51B2D9-4DA8-0316-DD9F-013D410016F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7655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49A327-BFD3-F4AB-C302-15487A0F8E2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4206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2E13E-012A-C1F0-B97D-2F95AD9E2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380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000" dirty="0">
                <a:solidFill>
                  <a:srgbClr val="FF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                     </a:t>
            </a:r>
            <a:r>
              <a:rPr lang="en-IN" sz="4000" dirty="0">
                <a:solidFill>
                  <a:srgbClr val="FF0000"/>
                </a:solidFill>
                <a:latin typeface="Algerian" panose="04020705040A02060702" pitchFamily="82" charset="0"/>
              </a:rPr>
              <a:t>Results and Discussion</a:t>
            </a:r>
            <a:endParaRPr lang="en-IN" sz="4000" dirty="0">
              <a:solidFill>
                <a:srgbClr val="FF0000"/>
              </a:solidFill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20F3BD-7765-A8FA-B4CE-05B3C43FFB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571" y="347663"/>
            <a:ext cx="1133475" cy="1343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D00BCE-FA04-2EB6-7FB1-685723568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429" y="226340"/>
            <a:ext cx="1524000" cy="13430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C5D8F0-28B6-0EC0-8914-466F9668E1B0}"/>
              </a:ext>
            </a:extLst>
          </p:cNvPr>
          <p:cNvSpPr txBox="1"/>
          <p:nvPr/>
        </p:nvSpPr>
        <p:spPr>
          <a:xfrm>
            <a:off x="900699" y="1910442"/>
            <a:ext cx="1051559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image-processing methods provide lower accuracy because they depend heavily on manually designed features. 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CNN-based methods improve recognition by automatically learning image features. 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YOLOv8-based methods provide better real-time detection performance. 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YOLOv8 + CNN approach combines fast detection with detailed classification. 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 and driver alerts further improve the practical usefulness of the system. 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08277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5BCF8-D873-5A84-6324-BFA29E61C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480F3-00E6-444A-2702-521E1CC96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380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000" dirty="0">
                <a:solidFill>
                  <a:srgbClr val="FF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                     </a:t>
            </a:r>
            <a:r>
              <a:rPr lang="en-IN" sz="4000" b="1" dirty="0">
                <a:solidFill>
                  <a:srgbClr val="FF0000"/>
                </a:solidFill>
                <a:latin typeface="Algerian" panose="04020705040A02060702" pitchFamily="82" charset="0"/>
              </a:rPr>
              <a:t>Implementation</a:t>
            </a:r>
            <a:endParaRPr lang="en-IN" sz="4000" b="1" dirty="0">
              <a:solidFill>
                <a:srgbClr val="FF0000"/>
              </a:solidFill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8A647D-CEC2-A6FC-1084-054F404847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734"/>
          <a:stretch>
            <a:fillRect/>
          </a:stretch>
        </p:blipFill>
        <p:spPr>
          <a:xfrm>
            <a:off x="378419" y="278270"/>
            <a:ext cx="1133475" cy="12391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0DC1C2-860D-8CDF-1598-28E2C9A69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044" y="126367"/>
            <a:ext cx="1524000" cy="1343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4EF041-5D57-6142-0941-24AA2364AC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7686" y="1469392"/>
            <a:ext cx="10386802" cy="5144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0417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AFACA-CAA9-ED41-A313-5EDEF9EE6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91765-A04B-284B-4EBB-5CCC59D1A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380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FF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                     </a:t>
            </a:r>
            <a:r>
              <a:rPr lang="en-IN" sz="4000" b="1" dirty="0">
                <a:solidFill>
                  <a:srgbClr val="FF0000"/>
                </a:solidFill>
                <a:latin typeface="Algerian" panose="04020705040A02060702" pitchFamily="82" charset="0"/>
              </a:rPr>
              <a:t>Applications</a:t>
            </a:r>
            <a:endParaRPr lang="en-IN" sz="4000" b="1" dirty="0">
              <a:solidFill>
                <a:srgbClr val="FF0000"/>
              </a:solidFill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72CA96-CAF0-5EBD-9345-F9D9833A4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571" y="347663"/>
            <a:ext cx="1133475" cy="1343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6A4CFD-3E1E-A38C-13A7-65CF0BE89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429" y="226340"/>
            <a:ext cx="1524000" cy="13430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62E6C7-F153-35BA-2690-9E1E64CB090E}"/>
              </a:ext>
            </a:extLst>
          </p:cNvPr>
          <p:cNvSpPr txBox="1"/>
          <p:nvPr/>
        </p:nvSpPr>
        <p:spPr>
          <a:xfrm>
            <a:off x="1420586" y="1986022"/>
            <a:ext cx="989511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Driver Assistance Systems (ADAS): Helps drivers identify important traffic signs while driving.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Vehicles: Provides traffic sign information to automated driving systems.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Transportation: Can be integrated into intelligent transportation systems.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 Safety Monitoring: Helps monitor and recognize signs from road cameras.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 Assistance Applications: Provides real-time warnings about speed limits, stop signs, and other important signs.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Navigation Systems: Recognized signs can be combined with navigation information to provide better driving assistance.</a:t>
            </a:r>
          </a:p>
        </p:txBody>
      </p:sp>
    </p:spTree>
    <p:extLst>
      <p:ext uri="{BB962C8B-B14F-4D97-AF65-F5344CB8AC3E}">
        <p14:creationId xmlns:p14="http://schemas.microsoft.com/office/powerpoint/2010/main" val="3840180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5A846-ADEE-4C5D-F112-F736E5ABA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F2C39-116E-BF88-E0B5-4EB3BA166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380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FF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                     </a:t>
            </a:r>
            <a:r>
              <a:rPr lang="en-IN" sz="4000" b="1" dirty="0">
                <a:solidFill>
                  <a:srgbClr val="FF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BE6E83-E0BA-5735-829A-5D93781EA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571" y="347663"/>
            <a:ext cx="1133475" cy="1343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79FF81-CCC6-A580-E7AD-D2FB26635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429" y="226340"/>
            <a:ext cx="1524000" cy="13430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0F62F5-0A42-06BC-7AFF-C1D76C5E7278}"/>
              </a:ext>
            </a:extLst>
          </p:cNvPr>
          <p:cNvSpPr txBox="1"/>
          <p:nvPr/>
        </p:nvSpPr>
        <p:spPr>
          <a:xfrm>
            <a:off x="1420586" y="1986022"/>
            <a:ext cx="989511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provides an AI-based solution for real-time traffic sign detection and recognition.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 is used to quickly detect traffic signs from road video.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tracking maintains the identity of signs across multiple frames.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ROI extraction focuses the classification process on the detected traffic sign.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or transfer learning is used to accurately recognize the type of traffic sign.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driver alert system provides visual and audio warnings to improve driver awareness.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combination of YOLOv8 + Tracking + CNN + Driver Alert provides a practical approach for intelligent and safer driving assistance</a:t>
            </a:r>
            <a:r>
              <a:rPr lang="en-IN" sz="2400" dirty="0"/>
              <a:t>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0106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A663D-78D2-E9FC-9304-73531EB6D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6B27E-6E0A-B597-1FFC-299399AEC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380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FF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                     </a:t>
            </a:r>
            <a:r>
              <a:rPr lang="en-IN" sz="4000" b="1" dirty="0">
                <a:solidFill>
                  <a:srgbClr val="FF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References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4CCB51-7B12-0EAF-ACD2-1911F4793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571" y="347663"/>
            <a:ext cx="1133475" cy="1343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6251FB4-C8AA-6F36-CC5D-CF5F777451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429" y="226340"/>
            <a:ext cx="1524000" cy="13430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6A580B8-F750-CE20-7D02-3FFE8AE24A4E}"/>
              </a:ext>
            </a:extLst>
          </p:cNvPr>
          <p:cNvSpPr txBox="1"/>
          <p:nvPr/>
        </p:nvSpPr>
        <p:spPr>
          <a:xfrm>
            <a:off x="1018308" y="1773020"/>
            <a:ext cx="10864129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Stallkamp, J.,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Schlipsing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Salmen, J., &amp; Igel, C. (2024)Man vs. Computer: Benchmarking Machine Learning Algorithms for Traffic Sign Recognition.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Houben, S., Stallkamp, J., Salmen, J.,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Schlipsing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&amp; Igel, C. (2025)Detection of Traffic Signs in Real-World Images: The German Traffic Sign Detection Benchmark.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Zhu, Z., Liang, D., Zhang, S., Huang, X., Li, B., &amp; Hu, S. (2023)Traffic-Sign Detection and Classification in the Wild.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Wojke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N., Bewley, A., &amp; Paulus, D. (2024)Simple Online and Realtime Tracking with a Deep Association Metric.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Gong, C., Li, A., Song, Y., Xu, N., &amp; He, W. (2023)Traffic Sign Recognition Based on the YOLOv3 Algorithm.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Xing, W., &amp; Huang, H. (2024)Traffic Sign Detection Algorithm Based on Improved YOLOv5.</a:t>
            </a:r>
          </a:p>
        </p:txBody>
      </p:sp>
    </p:spTree>
    <p:extLst>
      <p:ext uri="{BB962C8B-B14F-4D97-AF65-F5344CB8AC3E}">
        <p14:creationId xmlns:p14="http://schemas.microsoft.com/office/powerpoint/2010/main" val="37774228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A2207D-730E-6CD0-1499-260F1F08B666}"/>
              </a:ext>
            </a:extLst>
          </p:cNvPr>
          <p:cNvSpPr txBox="1"/>
          <p:nvPr/>
        </p:nvSpPr>
        <p:spPr>
          <a:xfrm>
            <a:off x="1955800" y="2539999"/>
            <a:ext cx="91778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dirty="0">
                <a:solidFill>
                  <a:srgbClr val="FF0000"/>
                </a:solidFill>
                <a:latin typeface="Bradley Hand ITC" panose="03070402050302030203" pitchFamily="66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1549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1051</TotalTime>
  <Words>1530</Words>
  <Application>Microsoft Office PowerPoint</Application>
  <PresentationFormat>Widescreen</PresentationFormat>
  <Paragraphs>160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LL              LITERATURE REVIEW</vt:lpstr>
      <vt:lpstr>PROBLEM STATEMENT </vt:lpstr>
      <vt:lpstr>OBJECTIVES</vt:lpstr>
      <vt:lpstr>Architecture</vt:lpstr>
      <vt:lpstr>        Module 1: Intelligent Video Acquisition &amp; Adaptive Preprocessing </vt:lpstr>
      <vt:lpstr>        Module-2 Real-Time Traffic Sign  Detection using YOLOv8</vt:lpstr>
      <vt:lpstr>        Module 3: Multi-Object Tracking &amp; Temporal Analysis</vt:lpstr>
      <vt:lpstr>        Module 4: Region Extraction &amp; Feature Optimization</vt:lpstr>
      <vt:lpstr>        Module 5: Traffic Sign Classification using CNN</vt:lpstr>
      <vt:lpstr>        Module 6: Driver Alert &amp; Decision Support System</vt:lpstr>
      <vt:lpstr>                     Results and Discussion</vt:lpstr>
      <vt:lpstr>                     Implementation</vt:lpstr>
      <vt:lpstr>                     Applications</vt:lpstr>
      <vt:lpstr>                     Conclusion</vt:lpstr>
      <vt:lpstr>                     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sampreeth</dc:creator>
  <cp:lastModifiedBy>Lucky Kumar</cp:lastModifiedBy>
  <cp:revision>32</cp:revision>
  <dcterms:created xsi:type="dcterms:W3CDTF">2025-12-26T06:25:37Z</dcterms:created>
  <dcterms:modified xsi:type="dcterms:W3CDTF">2026-09-03T01:23:50Z</dcterms:modified>
</cp:coreProperties>
</file>